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02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640080"/>
            <a:ext cx="2011680" cy="2011680"/>
          </a:xfrm>
          <a:prstGeom prst="ellipse">
            <a:avLst/>
          </a:prstGeom>
          <a:solidFill>
            <a:srgbClr val="1565C0">
              <a:alpha val="18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411480"/>
            <a:ext cx="2468880" cy="2468880"/>
          </a:xfrm>
          <a:prstGeom prst="ellipse">
            <a:avLst/>
          </a:prstGeom>
          <a:solidFill>
            <a:srgbClr val="112B50">
              <a:alpha val="50000"/>
            </a:srgbClr>
          </a:solidFill>
          <a:ln w="6350">
            <a:solidFill>
              <a:srgbClr val="90E0E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669280" y="2377440"/>
            <a:ext cx="32004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960120"/>
            <a:ext cx="3108960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960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Electromagnetic Waves &amp; Transmission Lines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Wave Attenuation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Lossy Media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3310128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8587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12B50"/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</a:rPr>
              <a:t>Problem-Based Learning |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9601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EM wave attenuation using AI?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91056"/>
            <a:ext cx="8503920" cy="566928"/>
          </a:xfrm>
          <a:prstGeom prst="rect">
            <a:avLst/>
          </a:prstGeom>
          <a:solidFill>
            <a:srgbClr val="EBF2FB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47548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5910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6367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Background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8836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media, attenuation constant α, propagation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47548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6771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3134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560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generation, AI model design, 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8503920" cy="566928"/>
          </a:xfrm>
          <a:prstGeom prst="rect">
            <a:avLst/>
          </a:prstGeom>
          <a:solidFill>
            <a:srgbClr val="EBF2FB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47548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9443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9900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362102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639728"/>
            <a:ext cx="8503920" cy="566928"/>
          </a:xfrm>
          <a:prstGeom prst="rect">
            <a:avLst/>
          </a:prstGeom>
          <a:solidFill>
            <a:srgbClr val="EBF2FB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373075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" y="36987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392319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project significance</a:t>
            </a:r>
            <a:endParaRPr lang="en-US" sz="95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749243D9-BA38-BC76-1959-C69935C517C9}"/>
              </a:ext>
            </a:extLst>
          </p:cNvPr>
          <p:cNvSpPr/>
          <p:nvPr/>
        </p:nvSpPr>
        <p:spPr>
          <a:xfrm>
            <a:off x="274320" y="3658432"/>
            <a:ext cx="475488" cy="529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264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formula for α requires complex calculations at each frequency &amp; medium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76272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396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media (soil, tissue, seawater) have varying σ, ε, μ — hard to generalize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88950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need quick attenuation estimates without re-deriving formulae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flexible tool exists that works across multiple lossy media types simultaneously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114800" cy="3566160"/>
          </a:xfrm>
          <a:prstGeom prst="rect">
            <a:avLst/>
          </a:prstGeom>
          <a:solidFill>
            <a:srgbClr val="0B1F3A"/>
          </a:solidFill>
          <a:ln w="12700">
            <a:solidFill>
              <a:srgbClr val="112B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463040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42646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AI model (ANN) on simulated attenuation data across media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176272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13969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frequency, conductivity, permittivity, permeability, distance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889504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8529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predicted attenuation in dB/m — instant, no formula needed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602736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566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analytical results and published datasets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Background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03920" cy="841248"/>
          </a:xfrm>
          <a:prstGeom prst="rect">
            <a:avLst/>
          </a:prstGeom>
          <a:solidFill>
            <a:srgbClr val="112B50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Constant: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ω√(με/2) · √[ √(1 + (σ/ωε)²) − 1 ]     (Np/m)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4114800" cy="2514600"/>
          </a:xfrm>
          <a:prstGeom prst="rect">
            <a:avLst/>
          </a:prstGeom>
          <a:solidFill>
            <a:srgbClr val="112B50"/>
          </a:solidFill>
          <a:ln w="1016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38528"/>
            <a:ext cx="4023360" cy="2240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1788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Decaying E-field in lossy medium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901952"/>
            <a:ext cx="4114800" cy="2514600"/>
          </a:xfrm>
          <a:prstGeom prst="rect">
            <a:avLst/>
          </a:prstGeom>
          <a:solidFill>
            <a:srgbClr val="112B50"/>
          </a:solidFill>
          <a:ln w="1016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38528"/>
            <a:ext cx="4023360" cy="2240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1788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vs Frequency for different lossy media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440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572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978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12252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α for 10,000+ combinations of σ, ε_r, μ_r, f, distance across media types.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600200"/>
            <a:ext cx="64008" cy="1143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714500"/>
            <a:ext cx="5440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1714500"/>
            <a:ext cx="4572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17145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17785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20253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inputs, 80/20 train-test split, log-scale frequency for stability.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2400300"/>
            <a:ext cx="64008" cy="1143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514600"/>
            <a:ext cx="5440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2514600"/>
            <a:ext cx="4572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25146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Model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28254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Input(5) → Dense(64,ReLU) → Dense(64,ReLU) → Output(1). Adam optimizer, MSE loss.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3200400"/>
            <a:ext cx="64008" cy="1143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3314700"/>
            <a:ext cx="5440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3314700"/>
            <a:ext cx="457200" cy="685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33147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33787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36255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TensorFlow/Keras. Monitor loss curves, tune hyperparameters.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4000500"/>
            <a:ext cx="64008" cy="1143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4114800"/>
            <a:ext cx="5440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4114800"/>
            <a:ext cx="457200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41148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" y="41788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" y="44256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predicted vs actual α. Compute RMSE, R² score. Test on unseen media.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33288" y="397789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Architecture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A37DA8C-74F7-EBF7-4120-54B992C3B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16" y="1517904"/>
            <a:ext cx="1161416" cy="232206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4024536-FCAC-C49C-308E-2CF262A7F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432" y="1517904"/>
            <a:ext cx="1254816" cy="232206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7CD36B9-E297-8F56-9C46-DBE2595C6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1646128"/>
            <a:ext cx="925207" cy="214309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944B29E-B3A5-B6E1-7CDC-DD854BEE03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4455" y="2514600"/>
            <a:ext cx="521437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1965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042416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0.98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5603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2304" y="960120"/>
            <a:ext cx="196596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32304" y="1042416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432304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1965960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08576" y="1042416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Media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608576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water, tissue,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air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84848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84848" y="960120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84848" y="1042416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784848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 analytical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(target)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2455857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577840" y="489204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102206-1A4C-D1C9-30E0-251DAE9C8EB0}"/>
              </a:ext>
            </a:extLst>
          </p:cNvPr>
          <p:cNvSpPr txBox="1"/>
          <p:nvPr/>
        </p:nvSpPr>
        <p:spPr>
          <a:xfrm>
            <a:off x="137159" y="2388122"/>
            <a:ext cx="57302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Radar systems </a:t>
            </a:r>
            <a:r>
              <a:rPr lang="en-US" dirty="0"/>
              <a:t>— predicting signal loss through rain/soil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Submarine communication </a:t>
            </a:r>
            <a:r>
              <a:rPr lang="en-US" dirty="0"/>
              <a:t>— seawater heavily attenuates EM waves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Medical imaging (MRI/microwave) </a:t>
            </a:r>
            <a:r>
              <a:rPr lang="en-US" dirty="0"/>
              <a:t>— waves through human tissue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Underground mining comms </a:t>
            </a:r>
            <a:r>
              <a:rPr lang="en-US" dirty="0"/>
              <a:t>— signals through rock/soil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5G network planning </a:t>
            </a:r>
            <a:r>
              <a:rPr lang="en-US" dirty="0"/>
              <a:t>— attenuation through building materials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C086D5B-A7B0-2C78-8F19-65A6A8B16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22" y="2388122"/>
            <a:ext cx="2787838" cy="2585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03920" cy="713232"/>
          </a:xfrm>
          <a:prstGeom prst="rect">
            <a:avLst/>
          </a:prstGeom>
          <a:solidFill>
            <a:srgbClr val="112B5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replacing the formula — we are making it intelligent.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81051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810512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" y="1920240"/>
            <a:ext cx="5486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research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260604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predicts α directly from raw material properties (σ, ε_r, μ_r, f) across arbitrary lossy media — our project fills this exactly.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36392" y="181051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36392" y="1810512"/>
            <a:ext cx="274320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73552" y="1920240"/>
            <a:ext cx="548640" cy="2743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73552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AI choice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552" y="260604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is chosen over CNN deliberately — tabular physical inputs have no spatial structure. The model learns the nonlinear α relationship through backpropagation.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16752" y="181051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3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16752" y="1810512"/>
            <a:ext cx="2743200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53912" y="1920240"/>
            <a:ext cx="548640" cy="274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53912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53912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53912" y="2606040"/>
            <a:ext cx="24871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underwater comms, 5G through walls, medical imaging, and radar design — any domain requiring fast EM attenuation estimation in lossy media.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79392"/>
            <a:ext cx="8503920" cy="658368"/>
          </a:xfrm>
          <a:prstGeom prst="rect">
            <a:avLst/>
          </a:prstGeom>
          <a:solidFill>
            <a:srgbClr val="EBF2FB"/>
          </a:solidFill>
          <a:ln w="6350">
            <a:solidFill>
              <a:srgbClr val="D1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79392"/>
            <a:ext cx="54864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encode physics — trained on Maxwell's equations outputs, the ANN generalizes to new media without ever seeing the formula explicitly.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731520"/>
            <a:ext cx="3657600" cy="3657600"/>
          </a:xfrm>
          <a:prstGeom prst="ellipse">
            <a:avLst/>
          </a:prstGeom>
          <a:solidFill>
            <a:srgbClr val="1565C0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1565C0">
              <a:alpha val="15000"/>
            </a:srgbClr>
          </a:solidFill>
          <a:ln w="6350">
            <a:solidFill>
              <a:srgbClr val="90E0E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2286000" y="1463040"/>
            <a:ext cx="457200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00400" y="21488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 EM Wave Attenuation in Lossy Media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EMW &amp; Transmission Lines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solidFill>
            <a:srgbClr val="112B50"/>
          </a:solidFill>
          <a:ln w="12700">
            <a:solidFill>
              <a:srgbClr val="11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</a:rPr>
              <a:t>Problem-Based Learning | Engineering | 2025–26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578</Words>
  <Application>Microsoft Office PowerPoint</Application>
  <PresentationFormat>On-screen Show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Prediction of EM Wave Attenuation in Lossy Media</dc:title>
  <dc:subject>PptxGenJS Presentation</dc:subject>
  <dc:creator>PptxGenJS</dc:creator>
  <cp:lastModifiedBy>THAMMI PALLAVI .</cp:lastModifiedBy>
  <cp:revision>3</cp:revision>
  <dcterms:created xsi:type="dcterms:W3CDTF">2026-04-07T03:27:02Z</dcterms:created>
  <dcterms:modified xsi:type="dcterms:W3CDTF">2026-04-07T03:59:57Z</dcterms:modified>
</cp:coreProperties>
</file>